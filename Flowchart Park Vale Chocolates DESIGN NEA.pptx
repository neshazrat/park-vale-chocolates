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7295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8021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3309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0121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341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713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6153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3258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2646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9570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55142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246A87-755E-46A9-999A-0A12B5506517}" type="datetimeFigureOut">
              <a:rPr lang="en-GB" smtClean="0"/>
              <a:t>07/01/2024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6A5467-2ED2-4B07-9C50-6E620C5C10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7533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Diamond 266"/>
          <p:cNvSpPr/>
          <p:nvPr/>
        </p:nvSpPr>
        <p:spPr>
          <a:xfrm>
            <a:off x="5754119" y="5736806"/>
            <a:ext cx="1453151" cy="113667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6" name="Flowchart: Data 215"/>
          <p:cNvSpPr/>
          <p:nvPr/>
        </p:nvSpPr>
        <p:spPr>
          <a:xfrm>
            <a:off x="7640058" y="2167378"/>
            <a:ext cx="1777522" cy="70924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7" name="Rectangle 206"/>
          <p:cNvSpPr/>
          <p:nvPr/>
        </p:nvSpPr>
        <p:spPr>
          <a:xfrm>
            <a:off x="10181540" y="152427"/>
            <a:ext cx="1592509" cy="706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4" name="Diamond 163"/>
          <p:cNvSpPr/>
          <p:nvPr/>
        </p:nvSpPr>
        <p:spPr>
          <a:xfrm>
            <a:off x="5760910" y="3109584"/>
            <a:ext cx="1583379" cy="122744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9" name="Flowchart: Predefined Process 158"/>
          <p:cNvSpPr/>
          <p:nvPr/>
        </p:nvSpPr>
        <p:spPr>
          <a:xfrm>
            <a:off x="3603454" y="5931548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8" name="Flowchart: Predefined Process 157"/>
          <p:cNvSpPr/>
          <p:nvPr/>
        </p:nvSpPr>
        <p:spPr>
          <a:xfrm>
            <a:off x="3594541" y="4562482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7" name="Rectangle 156"/>
          <p:cNvSpPr/>
          <p:nvPr/>
        </p:nvSpPr>
        <p:spPr>
          <a:xfrm>
            <a:off x="7987631" y="113109"/>
            <a:ext cx="1592509" cy="706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6" name="Rectangle 155"/>
          <p:cNvSpPr/>
          <p:nvPr/>
        </p:nvSpPr>
        <p:spPr>
          <a:xfrm>
            <a:off x="5826021" y="1069521"/>
            <a:ext cx="1584854" cy="7910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Terminator 4"/>
          <p:cNvSpPr/>
          <p:nvPr/>
        </p:nvSpPr>
        <p:spPr>
          <a:xfrm>
            <a:off x="577692" y="85160"/>
            <a:ext cx="1548714" cy="44198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1253329" y="540410"/>
            <a:ext cx="16476" cy="36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Flowchart: Data 7"/>
          <p:cNvSpPr/>
          <p:nvPr/>
        </p:nvSpPr>
        <p:spPr>
          <a:xfrm>
            <a:off x="283255" y="936493"/>
            <a:ext cx="1940016" cy="94782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TextBox 8"/>
          <p:cNvSpPr txBox="1"/>
          <p:nvPr/>
        </p:nvSpPr>
        <p:spPr>
          <a:xfrm>
            <a:off x="976788" y="139104"/>
            <a:ext cx="126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Start</a:t>
            </a:r>
            <a:endParaRPr lang="en-GB" dirty="0"/>
          </a:p>
        </p:txBody>
      </p:sp>
      <p:sp>
        <p:nvSpPr>
          <p:cNvPr id="10" name="TextBox 9"/>
          <p:cNvSpPr txBox="1"/>
          <p:nvPr/>
        </p:nvSpPr>
        <p:spPr>
          <a:xfrm>
            <a:off x="511924" y="907328"/>
            <a:ext cx="14992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Input</a:t>
            </a:r>
          </a:p>
          <a:p>
            <a:pPr algn="ctr"/>
            <a:r>
              <a:rPr lang="en-GB" dirty="0" smtClean="0"/>
              <a:t>“Username: </a:t>
            </a:r>
          </a:p>
          <a:p>
            <a:pPr algn="ctr"/>
            <a:r>
              <a:rPr lang="en-GB" dirty="0" smtClean="0"/>
              <a:t>Password: ”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1094616" y="1920623"/>
            <a:ext cx="16476" cy="3624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71569" y="3527210"/>
            <a:ext cx="21110" cy="391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Data 16"/>
          <p:cNvSpPr/>
          <p:nvPr/>
        </p:nvSpPr>
        <p:spPr>
          <a:xfrm>
            <a:off x="-5724" y="3954593"/>
            <a:ext cx="2202317" cy="1460958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/>
          <p:cNvSpPr txBox="1"/>
          <p:nvPr/>
        </p:nvSpPr>
        <p:spPr>
          <a:xfrm>
            <a:off x="167858" y="3941442"/>
            <a:ext cx="185351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 smtClean="0"/>
              <a:t>Output</a:t>
            </a:r>
          </a:p>
          <a:p>
            <a:pPr algn="ctr"/>
            <a:r>
              <a:rPr lang="en-GB" sz="1200" dirty="0" smtClean="0"/>
              <a:t>“1. Add customer</a:t>
            </a:r>
          </a:p>
          <a:p>
            <a:pPr algn="ctr"/>
            <a:r>
              <a:rPr lang="en-GB" sz="1200" dirty="0" smtClean="0"/>
              <a:t> 2. View customer details</a:t>
            </a:r>
          </a:p>
          <a:p>
            <a:pPr algn="ctr"/>
            <a:r>
              <a:rPr lang="en-GB" sz="1200" dirty="0" smtClean="0"/>
              <a:t>3. </a:t>
            </a:r>
            <a:r>
              <a:rPr lang="en-GB" sz="1200" dirty="0" smtClean="0"/>
              <a:t>Create order</a:t>
            </a:r>
          </a:p>
          <a:p>
            <a:pPr algn="ctr"/>
            <a:r>
              <a:rPr lang="en-GB" sz="1200" dirty="0" smtClean="0"/>
              <a:t> 4. </a:t>
            </a:r>
            <a:r>
              <a:rPr lang="en-GB" sz="1200" dirty="0" smtClean="0"/>
              <a:t>Edit order </a:t>
            </a:r>
          </a:p>
          <a:p>
            <a:pPr algn="ctr"/>
            <a:r>
              <a:rPr lang="en-GB" sz="1200" dirty="0" smtClean="0"/>
              <a:t> 5. Tin Message</a:t>
            </a:r>
          </a:p>
          <a:p>
            <a:pPr algn="ctr"/>
            <a:r>
              <a:rPr lang="en-GB" sz="1200" dirty="0" smtClean="0"/>
              <a:t> </a:t>
            </a:r>
            <a:r>
              <a:rPr lang="en-GB" sz="1200" dirty="0" smtClean="0"/>
              <a:t>6. Checkout Order”</a:t>
            </a:r>
          </a:p>
          <a:p>
            <a:endParaRPr lang="en-GB" dirty="0" smtClean="0"/>
          </a:p>
        </p:txBody>
      </p:sp>
      <p:sp>
        <p:nvSpPr>
          <p:cNvPr id="28" name="Flowchart: Data 27"/>
          <p:cNvSpPr/>
          <p:nvPr/>
        </p:nvSpPr>
        <p:spPr>
          <a:xfrm>
            <a:off x="138790" y="2293672"/>
            <a:ext cx="1699043" cy="118577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70194" y="2374991"/>
            <a:ext cx="14992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b="1" dirty="0" smtClean="0"/>
              <a:t>Output</a:t>
            </a:r>
          </a:p>
          <a:p>
            <a:pPr algn="ctr"/>
            <a:r>
              <a:rPr lang="en-GB" sz="1600" dirty="0" smtClean="0"/>
              <a:t>“Welcome To park Vale Chocolates! </a:t>
            </a:r>
            <a:r>
              <a:rPr lang="en-GB" sz="1400" dirty="0" smtClean="0"/>
              <a:t>”</a:t>
            </a:r>
          </a:p>
        </p:txBody>
      </p:sp>
      <p:cxnSp>
        <p:nvCxnSpPr>
          <p:cNvPr id="33" name="Straight Arrow Connector 32"/>
          <p:cNvCxnSpPr/>
          <p:nvPr/>
        </p:nvCxnSpPr>
        <p:spPr>
          <a:xfrm flipV="1">
            <a:off x="1661864" y="477835"/>
            <a:ext cx="1831602" cy="55967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 rot="17110858">
            <a:off x="2025071" y="1523431"/>
            <a:ext cx="17616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1. Add customer</a:t>
            </a:r>
            <a:endParaRPr lang="en-GB" sz="1400" dirty="0"/>
          </a:p>
        </p:txBody>
      </p:sp>
      <p:cxnSp>
        <p:nvCxnSpPr>
          <p:cNvPr id="41" name="Straight Arrow Connector 40"/>
          <p:cNvCxnSpPr/>
          <p:nvPr/>
        </p:nvCxnSpPr>
        <p:spPr>
          <a:xfrm flipV="1">
            <a:off x="1874667" y="1778619"/>
            <a:ext cx="1633261" cy="42823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 rot="17595961">
            <a:off x="1999074" y="2499336"/>
            <a:ext cx="19644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2. View customer details </a:t>
            </a:r>
            <a:endParaRPr lang="en-GB" sz="1400" dirty="0"/>
          </a:p>
        </p:txBody>
      </p:sp>
      <p:cxnSp>
        <p:nvCxnSpPr>
          <p:cNvPr id="51" name="Straight Arrow Connector 50"/>
          <p:cNvCxnSpPr/>
          <p:nvPr/>
        </p:nvCxnSpPr>
        <p:spPr>
          <a:xfrm flipV="1">
            <a:off x="2064370" y="3018515"/>
            <a:ext cx="1443558" cy="29591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 rot="17813584">
            <a:off x="2394165" y="3527576"/>
            <a:ext cx="1314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3. Create Order</a:t>
            </a:r>
            <a:endParaRPr lang="en-GB" sz="1400" dirty="0"/>
          </a:p>
        </p:txBody>
      </p:sp>
      <p:sp>
        <p:nvSpPr>
          <p:cNvPr id="55" name="Flowchart: Data 54"/>
          <p:cNvSpPr/>
          <p:nvPr/>
        </p:nvSpPr>
        <p:spPr>
          <a:xfrm>
            <a:off x="33508" y="5947345"/>
            <a:ext cx="2138691" cy="86028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6" name="TextBox 55"/>
          <p:cNvSpPr txBox="1"/>
          <p:nvPr/>
        </p:nvSpPr>
        <p:spPr>
          <a:xfrm>
            <a:off x="2627" y="6052952"/>
            <a:ext cx="2207286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/>
              <a:t>Input</a:t>
            </a:r>
          </a:p>
          <a:p>
            <a:pPr algn="ctr"/>
            <a:r>
              <a:rPr lang="en-GB" sz="1400" dirty="0" smtClean="0"/>
              <a:t>choice = input("::&gt;")</a:t>
            </a:r>
          </a:p>
          <a:p>
            <a:endParaRPr lang="en-GB" dirty="0" smtClean="0"/>
          </a:p>
        </p:txBody>
      </p:sp>
      <p:cxnSp>
        <p:nvCxnSpPr>
          <p:cNvPr id="57" name="Straight Arrow Connector 56"/>
          <p:cNvCxnSpPr/>
          <p:nvPr/>
        </p:nvCxnSpPr>
        <p:spPr>
          <a:xfrm>
            <a:off x="1073505" y="5490800"/>
            <a:ext cx="21110" cy="3914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/>
          <p:cNvCxnSpPr/>
          <p:nvPr/>
        </p:nvCxnSpPr>
        <p:spPr>
          <a:xfrm flipV="1">
            <a:off x="1829661" y="4067147"/>
            <a:ext cx="1726924" cy="23304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/>
          <p:cNvCxnSpPr/>
          <p:nvPr/>
        </p:nvCxnSpPr>
        <p:spPr>
          <a:xfrm flipV="1">
            <a:off x="1948739" y="6451132"/>
            <a:ext cx="1626720" cy="82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V="1">
            <a:off x="1789781" y="5209435"/>
            <a:ext cx="1780428" cy="11584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 rot="18304062">
            <a:off x="2504270" y="4238734"/>
            <a:ext cx="1314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4. Edit Order</a:t>
            </a:r>
            <a:endParaRPr lang="en-GB" sz="1400" dirty="0"/>
          </a:p>
        </p:txBody>
      </p:sp>
      <p:sp>
        <p:nvSpPr>
          <p:cNvPr id="84" name="TextBox 83"/>
          <p:cNvSpPr txBox="1"/>
          <p:nvPr/>
        </p:nvSpPr>
        <p:spPr>
          <a:xfrm rot="19586014">
            <a:off x="2335282" y="5294005"/>
            <a:ext cx="13140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5. Tin Message</a:t>
            </a:r>
            <a:endParaRPr lang="en-GB" sz="1400" dirty="0"/>
          </a:p>
        </p:txBody>
      </p:sp>
      <p:sp>
        <p:nvSpPr>
          <p:cNvPr id="85" name="TextBox 84"/>
          <p:cNvSpPr txBox="1"/>
          <p:nvPr/>
        </p:nvSpPr>
        <p:spPr>
          <a:xfrm>
            <a:off x="2065537" y="6177585"/>
            <a:ext cx="15046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6</a:t>
            </a:r>
            <a:r>
              <a:rPr lang="en-GB" sz="1400" dirty="0" smtClean="0"/>
              <a:t>. Checkout Order</a:t>
            </a:r>
            <a:endParaRPr lang="en-GB" sz="1400" dirty="0"/>
          </a:p>
        </p:txBody>
      </p:sp>
      <p:sp>
        <p:nvSpPr>
          <p:cNvPr id="94" name="Rectangle 93"/>
          <p:cNvSpPr/>
          <p:nvPr/>
        </p:nvSpPr>
        <p:spPr>
          <a:xfrm>
            <a:off x="3266724" y="4615856"/>
            <a:ext cx="223934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Def </a:t>
            </a:r>
          </a:p>
          <a:p>
            <a:pPr algn="ctr"/>
            <a:r>
              <a:rPr lang="en-GB" dirty="0" smtClean="0"/>
              <a:t>Tin_message ()</a:t>
            </a:r>
            <a:endParaRPr lang="en-GB" dirty="0" smtClean="0"/>
          </a:p>
        </p:txBody>
      </p:sp>
      <p:sp>
        <p:nvSpPr>
          <p:cNvPr id="95" name="Rectangle 94"/>
          <p:cNvSpPr/>
          <p:nvPr/>
        </p:nvSpPr>
        <p:spPr>
          <a:xfrm>
            <a:off x="3487055" y="5974146"/>
            <a:ext cx="188477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dirty="0" smtClean="0"/>
              <a:t>Def </a:t>
            </a:r>
          </a:p>
          <a:p>
            <a:pPr algn="ctr"/>
            <a:r>
              <a:rPr lang="en-GB" sz="1600" dirty="0" smtClean="0"/>
              <a:t>Checkout_order()</a:t>
            </a:r>
            <a:endParaRPr lang="en-GB" sz="1600" dirty="0" smtClean="0"/>
          </a:p>
        </p:txBody>
      </p:sp>
      <p:cxnSp>
        <p:nvCxnSpPr>
          <p:cNvPr id="96" name="Straight Arrow Connector 95"/>
          <p:cNvCxnSpPr/>
          <p:nvPr/>
        </p:nvCxnSpPr>
        <p:spPr>
          <a:xfrm flipV="1">
            <a:off x="5039485" y="455022"/>
            <a:ext cx="587114" cy="133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Flowchart: Data 97"/>
          <p:cNvSpPr/>
          <p:nvPr/>
        </p:nvSpPr>
        <p:spPr>
          <a:xfrm>
            <a:off x="5532846" y="85160"/>
            <a:ext cx="1929467" cy="73456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0" name="TextBox 99"/>
          <p:cNvSpPr txBox="1"/>
          <p:nvPr/>
        </p:nvSpPr>
        <p:spPr>
          <a:xfrm>
            <a:off x="5607434" y="28048"/>
            <a:ext cx="17029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“Name:</a:t>
            </a:r>
          </a:p>
          <a:p>
            <a:pPr algn="ctr"/>
            <a:r>
              <a:rPr lang="en-GB" sz="1200" dirty="0" smtClean="0"/>
              <a:t>Address:</a:t>
            </a:r>
          </a:p>
          <a:p>
            <a:pPr algn="ctr"/>
            <a:r>
              <a:rPr lang="en-GB" sz="1200" dirty="0" smtClean="0"/>
              <a:t>Email: ”</a:t>
            </a:r>
            <a:endParaRPr lang="en-GB" sz="1200" dirty="0"/>
          </a:p>
        </p:txBody>
      </p:sp>
      <p:cxnSp>
        <p:nvCxnSpPr>
          <p:cNvPr id="101" name="Straight Arrow Connector 100"/>
          <p:cNvCxnSpPr/>
          <p:nvPr/>
        </p:nvCxnSpPr>
        <p:spPr>
          <a:xfrm flipV="1">
            <a:off x="7369136" y="445718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7969774" y="140584"/>
            <a:ext cx="1553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file = open("customer_data.txt", "a")    file.write</a:t>
            </a:r>
            <a:endParaRPr lang="en-GB" sz="1200" dirty="0"/>
          </a:p>
        </p:txBody>
      </p:sp>
      <p:cxnSp>
        <p:nvCxnSpPr>
          <p:cNvPr id="104" name="Straight Arrow Connector 103"/>
          <p:cNvCxnSpPr/>
          <p:nvPr/>
        </p:nvCxnSpPr>
        <p:spPr>
          <a:xfrm flipV="1">
            <a:off x="9606088" y="444928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0196136" y="270084"/>
            <a:ext cx="156035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Order_number = random_num_generator</a:t>
            </a:r>
            <a:endParaRPr lang="en-GB" sz="1050" b="1" dirty="0"/>
          </a:p>
        </p:txBody>
      </p:sp>
      <p:sp>
        <p:nvSpPr>
          <p:cNvPr id="109" name="Flowchart: Data 108"/>
          <p:cNvSpPr/>
          <p:nvPr/>
        </p:nvSpPr>
        <p:spPr>
          <a:xfrm>
            <a:off x="8008660" y="1096760"/>
            <a:ext cx="1927652" cy="77165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Flowchart: Data 110"/>
          <p:cNvSpPr/>
          <p:nvPr/>
        </p:nvSpPr>
        <p:spPr>
          <a:xfrm>
            <a:off x="5695891" y="2184215"/>
            <a:ext cx="1558341" cy="77626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Flowchart: Data 114"/>
          <p:cNvSpPr/>
          <p:nvPr/>
        </p:nvSpPr>
        <p:spPr>
          <a:xfrm>
            <a:off x="7796225" y="3821345"/>
            <a:ext cx="1704046" cy="42594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3" name="Straight Arrow Connector 122"/>
          <p:cNvCxnSpPr/>
          <p:nvPr/>
        </p:nvCxnSpPr>
        <p:spPr>
          <a:xfrm flipV="1">
            <a:off x="5232745" y="1481925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flipV="1">
            <a:off x="5255817" y="2634109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24"/>
          <p:cNvCxnSpPr/>
          <p:nvPr/>
        </p:nvCxnSpPr>
        <p:spPr>
          <a:xfrm>
            <a:off x="5239833" y="3713248"/>
            <a:ext cx="474304" cy="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/>
          <p:cNvCxnSpPr/>
          <p:nvPr/>
        </p:nvCxnSpPr>
        <p:spPr>
          <a:xfrm flipV="1">
            <a:off x="5262516" y="4907308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/>
          <p:cNvCxnSpPr/>
          <p:nvPr/>
        </p:nvCxnSpPr>
        <p:spPr>
          <a:xfrm flipV="1">
            <a:off x="5225542" y="6177584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/>
          <p:cNvCxnSpPr/>
          <p:nvPr/>
        </p:nvCxnSpPr>
        <p:spPr>
          <a:xfrm flipV="1">
            <a:off x="7488661" y="1490968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9" name="Straight Arrow Connector 128"/>
          <p:cNvCxnSpPr/>
          <p:nvPr/>
        </p:nvCxnSpPr>
        <p:spPr>
          <a:xfrm flipV="1">
            <a:off x="7159160" y="2578853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Straight Arrow Connector 129"/>
          <p:cNvCxnSpPr/>
          <p:nvPr/>
        </p:nvCxnSpPr>
        <p:spPr>
          <a:xfrm flipV="1">
            <a:off x="7381168" y="3334961"/>
            <a:ext cx="583951" cy="2557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/>
          <p:cNvCxnSpPr/>
          <p:nvPr/>
        </p:nvCxnSpPr>
        <p:spPr>
          <a:xfrm flipV="1">
            <a:off x="7213267" y="4652842"/>
            <a:ext cx="582958" cy="196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/>
          <p:cNvCxnSpPr/>
          <p:nvPr/>
        </p:nvCxnSpPr>
        <p:spPr>
          <a:xfrm flipV="1">
            <a:off x="7090668" y="6014267"/>
            <a:ext cx="484613" cy="1118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Arrow Connector 133"/>
          <p:cNvCxnSpPr/>
          <p:nvPr/>
        </p:nvCxnSpPr>
        <p:spPr>
          <a:xfrm>
            <a:off x="8778758" y="5782519"/>
            <a:ext cx="605148" cy="916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/>
          <p:cNvCxnSpPr/>
          <p:nvPr/>
        </p:nvCxnSpPr>
        <p:spPr>
          <a:xfrm>
            <a:off x="9421789" y="4666117"/>
            <a:ext cx="240035" cy="919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Arrow Connector 136"/>
          <p:cNvCxnSpPr/>
          <p:nvPr/>
        </p:nvCxnSpPr>
        <p:spPr>
          <a:xfrm flipV="1">
            <a:off x="9280372" y="2597431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TextBox 137"/>
          <p:cNvSpPr txBox="1"/>
          <p:nvPr/>
        </p:nvSpPr>
        <p:spPr>
          <a:xfrm>
            <a:off x="5877800" y="1037416"/>
            <a:ext cx="1480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with open("customer_data.txt", "r")as f:          print(</a:t>
            </a:r>
            <a:r>
              <a:rPr lang="en-GB" sz="1200" dirty="0" err="1" smtClean="0"/>
              <a:t>f.read</a:t>
            </a:r>
            <a:r>
              <a:rPr lang="en-GB" sz="1200" dirty="0" smtClean="0"/>
              <a:t>())</a:t>
            </a:r>
            <a:endParaRPr lang="en-GB" sz="1200" dirty="0"/>
          </a:p>
        </p:txBody>
      </p:sp>
      <p:sp>
        <p:nvSpPr>
          <p:cNvPr id="139" name="TextBox 138"/>
          <p:cNvSpPr txBox="1"/>
          <p:nvPr/>
        </p:nvSpPr>
        <p:spPr>
          <a:xfrm>
            <a:off x="8121908" y="1028071"/>
            <a:ext cx="170296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300" b="1" dirty="0" smtClean="0"/>
              <a:t>Output</a:t>
            </a:r>
          </a:p>
          <a:p>
            <a:pPr algn="ctr"/>
            <a:r>
              <a:rPr lang="en-GB" sz="1300" dirty="0" smtClean="0"/>
              <a:t>“Name:  …</a:t>
            </a:r>
          </a:p>
          <a:p>
            <a:pPr algn="ctr"/>
            <a:r>
              <a:rPr lang="en-GB" sz="1300" dirty="0" smtClean="0"/>
              <a:t>Address:  ….</a:t>
            </a:r>
          </a:p>
          <a:p>
            <a:pPr algn="ctr"/>
            <a:r>
              <a:rPr lang="en-GB" sz="1300" dirty="0" smtClean="0"/>
              <a:t>Email: …  ”</a:t>
            </a:r>
            <a:endParaRPr lang="en-GB" sz="1300" dirty="0"/>
          </a:p>
        </p:txBody>
      </p:sp>
      <p:sp>
        <p:nvSpPr>
          <p:cNvPr id="140" name="TextBox 139"/>
          <p:cNvSpPr txBox="1"/>
          <p:nvPr/>
        </p:nvSpPr>
        <p:spPr>
          <a:xfrm>
            <a:off x="5773928" y="3342257"/>
            <a:ext cx="148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“Would you like to edit your order?”</a:t>
            </a:r>
            <a:endParaRPr lang="en-GB" sz="1200" dirty="0"/>
          </a:p>
        </p:txBody>
      </p:sp>
      <p:sp>
        <p:nvSpPr>
          <p:cNvPr id="142" name="Flowchart: Predefined Process 141"/>
          <p:cNvSpPr/>
          <p:nvPr/>
        </p:nvSpPr>
        <p:spPr>
          <a:xfrm>
            <a:off x="3560956" y="95144"/>
            <a:ext cx="1427269" cy="750117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TextBox 38"/>
          <p:cNvSpPr txBox="1"/>
          <p:nvPr/>
        </p:nvSpPr>
        <p:spPr>
          <a:xfrm>
            <a:off x="3352364" y="158300"/>
            <a:ext cx="17764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 smtClean="0"/>
              <a:t>Def </a:t>
            </a:r>
          </a:p>
          <a:p>
            <a:pPr algn="ctr"/>
            <a:r>
              <a:rPr lang="en-GB" sz="1400" dirty="0" smtClean="0"/>
              <a:t>Add_customer()</a:t>
            </a:r>
            <a:endParaRPr lang="en-GB" sz="1400" dirty="0"/>
          </a:p>
        </p:txBody>
      </p:sp>
      <p:sp>
        <p:nvSpPr>
          <p:cNvPr id="146" name="Flowchart: Predefined Process 145"/>
          <p:cNvSpPr/>
          <p:nvPr/>
        </p:nvSpPr>
        <p:spPr>
          <a:xfrm>
            <a:off x="3561754" y="1090114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TextBox 49"/>
          <p:cNvSpPr txBox="1"/>
          <p:nvPr/>
        </p:nvSpPr>
        <p:spPr>
          <a:xfrm>
            <a:off x="3358594" y="1060867"/>
            <a:ext cx="18957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600" dirty="0" smtClean="0"/>
              <a:t>Def </a:t>
            </a:r>
          </a:p>
          <a:p>
            <a:pPr algn="ctr"/>
            <a:r>
              <a:rPr lang="en-GB" sz="1600" dirty="0" smtClean="0"/>
              <a:t>view_customer_</a:t>
            </a:r>
          </a:p>
          <a:p>
            <a:pPr algn="ctr"/>
            <a:r>
              <a:rPr lang="en-GB" sz="1600" dirty="0" smtClean="0"/>
              <a:t>details()</a:t>
            </a:r>
            <a:endParaRPr lang="en-GB" sz="1600" dirty="0"/>
          </a:p>
        </p:txBody>
      </p:sp>
      <p:sp>
        <p:nvSpPr>
          <p:cNvPr id="150" name="Flowchart: Predefined Process 149"/>
          <p:cNvSpPr/>
          <p:nvPr/>
        </p:nvSpPr>
        <p:spPr>
          <a:xfrm>
            <a:off x="3585323" y="2215814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/>
          <p:cNvSpPr/>
          <p:nvPr/>
        </p:nvSpPr>
        <p:spPr>
          <a:xfrm>
            <a:off x="3460337" y="2237033"/>
            <a:ext cx="17365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Def </a:t>
            </a:r>
          </a:p>
          <a:p>
            <a:pPr algn="ctr"/>
            <a:r>
              <a:rPr lang="en-GB" dirty="0" smtClean="0"/>
              <a:t>Create_order()</a:t>
            </a:r>
            <a:endParaRPr lang="en-GB" dirty="0" smtClean="0"/>
          </a:p>
        </p:txBody>
      </p:sp>
      <p:sp>
        <p:nvSpPr>
          <p:cNvPr id="154" name="Flowchart: Predefined Process 153"/>
          <p:cNvSpPr/>
          <p:nvPr/>
        </p:nvSpPr>
        <p:spPr>
          <a:xfrm>
            <a:off x="3578139" y="3296359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 92"/>
          <p:cNvSpPr/>
          <p:nvPr/>
        </p:nvSpPr>
        <p:spPr>
          <a:xfrm>
            <a:off x="3667557" y="3330783"/>
            <a:ext cx="135016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Def </a:t>
            </a:r>
          </a:p>
          <a:p>
            <a:pPr algn="ctr"/>
            <a:r>
              <a:rPr lang="en-GB" dirty="0" smtClean="0"/>
              <a:t>edit_order()</a:t>
            </a:r>
            <a:endParaRPr lang="en-GB" dirty="0" smtClean="0"/>
          </a:p>
        </p:txBody>
      </p:sp>
      <p:cxnSp>
        <p:nvCxnSpPr>
          <p:cNvPr id="161" name="Straight Arrow Connector 160"/>
          <p:cNvCxnSpPr/>
          <p:nvPr/>
        </p:nvCxnSpPr>
        <p:spPr>
          <a:xfrm>
            <a:off x="7357307" y="3780781"/>
            <a:ext cx="542263" cy="171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TextBox 167"/>
          <p:cNvSpPr txBox="1"/>
          <p:nvPr/>
        </p:nvSpPr>
        <p:spPr>
          <a:xfrm>
            <a:off x="7914494" y="3775432"/>
            <a:ext cx="14529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choice = input("::&gt;")</a:t>
            </a:r>
            <a:endParaRPr lang="en-GB" sz="1200" dirty="0" smtClean="0"/>
          </a:p>
        </p:txBody>
      </p:sp>
      <p:sp>
        <p:nvSpPr>
          <p:cNvPr id="169" name="Flowchart: Data 168"/>
          <p:cNvSpPr/>
          <p:nvPr/>
        </p:nvSpPr>
        <p:spPr>
          <a:xfrm>
            <a:off x="7878724" y="3072655"/>
            <a:ext cx="1704046" cy="602135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TextBox 170"/>
          <p:cNvSpPr txBox="1"/>
          <p:nvPr/>
        </p:nvSpPr>
        <p:spPr>
          <a:xfrm rot="19743244">
            <a:off x="7378523" y="3215998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YES</a:t>
            </a:r>
            <a:endParaRPr lang="en-GB" sz="1400" dirty="0"/>
          </a:p>
        </p:txBody>
      </p:sp>
      <p:sp>
        <p:nvSpPr>
          <p:cNvPr id="172" name="TextBox 171"/>
          <p:cNvSpPr txBox="1"/>
          <p:nvPr/>
        </p:nvSpPr>
        <p:spPr>
          <a:xfrm rot="1184441">
            <a:off x="7329360" y="3858413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NO</a:t>
            </a:r>
            <a:endParaRPr lang="en-GB" sz="1400" dirty="0"/>
          </a:p>
        </p:txBody>
      </p:sp>
      <p:sp>
        <p:nvSpPr>
          <p:cNvPr id="173" name="TextBox 172"/>
          <p:cNvSpPr txBox="1"/>
          <p:nvPr/>
        </p:nvSpPr>
        <p:spPr>
          <a:xfrm>
            <a:off x="7996831" y="3011795"/>
            <a:ext cx="1452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Output</a:t>
            </a:r>
          </a:p>
          <a:p>
            <a:pPr algn="ctr"/>
            <a:r>
              <a:rPr lang="en-GB" sz="1200" dirty="0" smtClean="0"/>
              <a:t>“Your current order has been cleared”</a:t>
            </a:r>
            <a:endParaRPr lang="en-GB" sz="1200" dirty="0" smtClean="0"/>
          </a:p>
        </p:txBody>
      </p:sp>
      <p:sp>
        <p:nvSpPr>
          <p:cNvPr id="178" name="Diamond 177"/>
          <p:cNvSpPr/>
          <p:nvPr/>
        </p:nvSpPr>
        <p:spPr>
          <a:xfrm>
            <a:off x="5834029" y="4424938"/>
            <a:ext cx="1495282" cy="128856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9" name="TextBox 178"/>
          <p:cNvSpPr txBox="1"/>
          <p:nvPr/>
        </p:nvSpPr>
        <p:spPr>
          <a:xfrm>
            <a:off x="5853873" y="4706788"/>
            <a:ext cx="148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“Would you like a tin message?”</a:t>
            </a:r>
            <a:endParaRPr lang="en-GB" sz="1200" dirty="0"/>
          </a:p>
        </p:txBody>
      </p:sp>
      <p:sp>
        <p:nvSpPr>
          <p:cNvPr id="180" name="Flowchart: Data 179"/>
          <p:cNvSpPr/>
          <p:nvPr/>
        </p:nvSpPr>
        <p:spPr>
          <a:xfrm>
            <a:off x="7732492" y="4405091"/>
            <a:ext cx="1873596" cy="41543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1" name="Flowchart: Data 180"/>
          <p:cNvSpPr/>
          <p:nvPr/>
        </p:nvSpPr>
        <p:spPr>
          <a:xfrm>
            <a:off x="7657275" y="4993981"/>
            <a:ext cx="1704046" cy="485782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3" name="Straight Arrow Connector 182"/>
          <p:cNvCxnSpPr/>
          <p:nvPr/>
        </p:nvCxnSpPr>
        <p:spPr>
          <a:xfrm>
            <a:off x="7169087" y="5250312"/>
            <a:ext cx="563405" cy="397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 rot="490548">
            <a:off x="7190969" y="5253607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NO</a:t>
            </a:r>
            <a:endParaRPr lang="en-GB" sz="1400" dirty="0"/>
          </a:p>
        </p:txBody>
      </p:sp>
      <p:sp>
        <p:nvSpPr>
          <p:cNvPr id="185" name="TextBox 184"/>
          <p:cNvSpPr txBox="1"/>
          <p:nvPr/>
        </p:nvSpPr>
        <p:spPr>
          <a:xfrm rot="20491827">
            <a:off x="7195246" y="4442771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YES</a:t>
            </a:r>
            <a:endParaRPr lang="en-GB" sz="1400" dirty="0"/>
          </a:p>
        </p:txBody>
      </p:sp>
      <p:sp>
        <p:nvSpPr>
          <p:cNvPr id="186" name="TextBox 185"/>
          <p:cNvSpPr txBox="1"/>
          <p:nvPr/>
        </p:nvSpPr>
        <p:spPr>
          <a:xfrm>
            <a:off x="7838235" y="4343245"/>
            <a:ext cx="17275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“Enter your message:”</a:t>
            </a:r>
            <a:endParaRPr lang="en-GB" sz="1200" dirty="0"/>
          </a:p>
        </p:txBody>
      </p:sp>
      <p:sp>
        <p:nvSpPr>
          <p:cNvPr id="188" name="TextBox 187"/>
          <p:cNvSpPr txBox="1"/>
          <p:nvPr/>
        </p:nvSpPr>
        <p:spPr>
          <a:xfrm>
            <a:off x="7397827" y="4930044"/>
            <a:ext cx="22072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smtClean="0"/>
              <a:t>Input</a:t>
            </a:r>
          </a:p>
          <a:p>
            <a:pPr algn="ctr"/>
            <a:r>
              <a:rPr lang="en-GB" sz="1100" dirty="0" smtClean="0"/>
              <a:t>choice = input("::&gt;")</a:t>
            </a:r>
          </a:p>
          <a:p>
            <a:endParaRPr lang="en-GB" dirty="0" smtClean="0"/>
          </a:p>
        </p:txBody>
      </p:sp>
      <p:sp>
        <p:nvSpPr>
          <p:cNvPr id="195" name="Diamond 194"/>
          <p:cNvSpPr/>
          <p:nvPr/>
        </p:nvSpPr>
        <p:spPr>
          <a:xfrm>
            <a:off x="9544153" y="4324337"/>
            <a:ext cx="1243819" cy="1112624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4" name="TextBox 193"/>
          <p:cNvSpPr txBox="1"/>
          <p:nvPr/>
        </p:nvSpPr>
        <p:spPr>
          <a:xfrm>
            <a:off x="9593666" y="4584806"/>
            <a:ext cx="111287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" dirty="0" smtClean="0"/>
              <a:t> if tin_message == "merry Christmas":          print(“ 'Merry Christmas' is free of charge.")</a:t>
            </a:r>
            <a:endParaRPr lang="en-GB" sz="800" dirty="0"/>
          </a:p>
        </p:txBody>
      </p:sp>
      <p:sp>
        <p:nvSpPr>
          <p:cNvPr id="196" name="Rounded Rectangle 195"/>
          <p:cNvSpPr/>
          <p:nvPr/>
        </p:nvSpPr>
        <p:spPr>
          <a:xfrm>
            <a:off x="11078084" y="4588228"/>
            <a:ext cx="905564" cy="6067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8" name="TextBox 197"/>
          <p:cNvSpPr txBox="1"/>
          <p:nvPr/>
        </p:nvSpPr>
        <p:spPr>
          <a:xfrm>
            <a:off x="10970804" y="4573222"/>
            <a:ext cx="11553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900" dirty="0" smtClean="0"/>
              <a:t> else:</a:t>
            </a:r>
          </a:p>
          <a:p>
            <a:pPr algn="ctr"/>
            <a:r>
              <a:rPr lang="en-GB" sz="900" dirty="0" smtClean="0"/>
              <a:t>message_cost = </a:t>
            </a:r>
            <a:r>
              <a:rPr lang="en-GB" sz="900" dirty="0" err="1" smtClean="0"/>
              <a:t>len</a:t>
            </a:r>
            <a:r>
              <a:rPr lang="en-GB" sz="900" dirty="0" smtClean="0"/>
              <a:t>(tin_message) * 0.10</a:t>
            </a:r>
            <a:endParaRPr lang="en-GB" sz="900" dirty="0"/>
          </a:p>
        </p:txBody>
      </p:sp>
      <p:cxnSp>
        <p:nvCxnSpPr>
          <p:cNvPr id="200" name="Straight Arrow Connector 199"/>
          <p:cNvCxnSpPr/>
          <p:nvPr/>
        </p:nvCxnSpPr>
        <p:spPr>
          <a:xfrm flipV="1">
            <a:off x="10666720" y="4756723"/>
            <a:ext cx="388210" cy="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TextBox 207"/>
          <p:cNvSpPr txBox="1"/>
          <p:nvPr/>
        </p:nvSpPr>
        <p:spPr>
          <a:xfrm>
            <a:off x="5834029" y="2128908"/>
            <a:ext cx="126016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 smtClean="0"/>
              <a:t>Output</a:t>
            </a:r>
          </a:p>
          <a:p>
            <a:pPr algn="ctr"/>
            <a:r>
              <a:rPr lang="en-GB" sz="1200" dirty="0" smtClean="0"/>
              <a:t>“ 1. C1</a:t>
            </a:r>
          </a:p>
          <a:p>
            <a:pPr algn="ctr"/>
            <a:r>
              <a:rPr lang="en-GB" sz="1200" dirty="0" smtClean="0"/>
              <a:t>2. C2</a:t>
            </a:r>
            <a:endParaRPr lang="en-GB" sz="1200" dirty="0"/>
          </a:p>
          <a:p>
            <a:pPr algn="ctr"/>
            <a:r>
              <a:rPr lang="en-GB" sz="1200" dirty="0" smtClean="0"/>
              <a:t>3. C2”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7766391" y="2176091"/>
            <a:ext cx="148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“How many chocolates? (3-6):”</a:t>
            </a:r>
            <a:endParaRPr lang="en-GB" sz="1200" dirty="0"/>
          </a:p>
        </p:txBody>
      </p:sp>
      <p:sp>
        <p:nvSpPr>
          <p:cNvPr id="219" name="Diamond 218"/>
          <p:cNvSpPr/>
          <p:nvPr/>
        </p:nvSpPr>
        <p:spPr>
          <a:xfrm>
            <a:off x="9817365" y="1738051"/>
            <a:ext cx="1383278" cy="120369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7" name="TextBox 216"/>
          <p:cNvSpPr txBox="1"/>
          <p:nvPr/>
        </p:nvSpPr>
        <p:spPr>
          <a:xfrm>
            <a:off x="9926296" y="1899672"/>
            <a:ext cx="1102232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 smtClean="0"/>
              <a:t>if num_chocolates &lt; 3 or num_chocolates &gt; 6:</a:t>
            </a:r>
            <a:endParaRPr lang="en-GB" sz="1050" dirty="0"/>
          </a:p>
        </p:txBody>
      </p:sp>
      <p:cxnSp>
        <p:nvCxnSpPr>
          <p:cNvPr id="221" name="Straight Arrow Connector 220"/>
          <p:cNvCxnSpPr/>
          <p:nvPr/>
        </p:nvCxnSpPr>
        <p:spPr>
          <a:xfrm flipV="1">
            <a:off x="11249692" y="2361413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TextBox 265"/>
          <p:cNvSpPr txBox="1"/>
          <p:nvPr/>
        </p:nvSpPr>
        <p:spPr>
          <a:xfrm>
            <a:off x="5738616" y="5970350"/>
            <a:ext cx="148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”Enter your order number:</a:t>
            </a:r>
            <a:endParaRPr lang="en-GB" sz="1200" dirty="0"/>
          </a:p>
        </p:txBody>
      </p:sp>
      <p:sp>
        <p:nvSpPr>
          <p:cNvPr id="268" name="TextBox 267"/>
          <p:cNvSpPr txBox="1"/>
          <p:nvPr/>
        </p:nvSpPr>
        <p:spPr>
          <a:xfrm rot="20491827">
            <a:off x="7047353" y="5819956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YES</a:t>
            </a:r>
            <a:endParaRPr lang="en-GB" sz="1400" dirty="0"/>
          </a:p>
        </p:txBody>
      </p:sp>
      <p:sp>
        <p:nvSpPr>
          <p:cNvPr id="270" name="TextBox 269"/>
          <p:cNvSpPr txBox="1"/>
          <p:nvPr/>
        </p:nvSpPr>
        <p:spPr>
          <a:xfrm rot="490548">
            <a:off x="7011397" y="6531268"/>
            <a:ext cx="4918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NO</a:t>
            </a:r>
            <a:endParaRPr lang="en-GB" sz="1400" dirty="0"/>
          </a:p>
        </p:txBody>
      </p:sp>
      <p:cxnSp>
        <p:nvCxnSpPr>
          <p:cNvPr id="271" name="Straight Arrow Connector 270"/>
          <p:cNvCxnSpPr/>
          <p:nvPr/>
        </p:nvCxnSpPr>
        <p:spPr>
          <a:xfrm>
            <a:off x="7058179" y="6464665"/>
            <a:ext cx="542263" cy="171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5" name="Flowchart: Data 274"/>
          <p:cNvSpPr/>
          <p:nvPr/>
        </p:nvSpPr>
        <p:spPr>
          <a:xfrm>
            <a:off x="7646866" y="6497858"/>
            <a:ext cx="1558321" cy="308357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TextBox 277"/>
          <p:cNvSpPr txBox="1"/>
          <p:nvPr/>
        </p:nvSpPr>
        <p:spPr>
          <a:xfrm>
            <a:off x="7522626" y="6539145"/>
            <a:ext cx="1646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Return False</a:t>
            </a:r>
          </a:p>
        </p:txBody>
      </p:sp>
      <p:sp>
        <p:nvSpPr>
          <p:cNvPr id="282" name="Diamond 281"/>
          <p:cNvSpPr/>
          <p:nvPr/>
        </p:nvSpPr>
        <p:spPr>
          <a:xfrm>
            <a:off x="7680251" y="5515490"/>
            <a:ext cx="1207895" cy="840426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3" name="TextBox 282"/>
          <p:cNvSpPr txBox="1"/>
          <p:nvPr/>
        </p:nvSpPr>
        <p:spPr>
          <a:xfrm>
            <a:off x="7618189" y="5761852"/>
            <a:ext cx="13664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if order_number</a:t>
            </a:r>
          </a:p>
          <a:p>
            <a:pPr algn="ctr"/>
            <a:r>
              <a:rPr lang="en-GB" sz="1200" dirty="0" smtClean="0"/>
              <a:t> in order:</a:t>
            </a:r>
          </a:p>
        </p:txBody>
      </p:sp>
      <p:cxnSp>
        <p:nvCxnSpPr>
          <p:cNvPr id="285" name="Straight Arrow Connector 284"/>
          <p:cNvCxnSpPr/>
          <p:nvPr/>
        </p:nvCxnSpPr>
        <p:spPr>
          <a:xfrm>
            <a:off x="9642901" y="3424788"/>
            <a:ext cx="474304" cy="9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6" name="Flowchart: Predefined Process 285"/>
          <p:cNvSpPr/>
          <p:nvPr/>
        </p:nvSpPr>
        <p:spPr>
          <a:xfrm>
            <a:off x="10147591" y="3007240"/>
            <a:ext cx="1609605" cy="790009"/>
          </a:xfrm>
          <a:prstGeom prst="flowChartPredefined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7" name="Rectangle 286"/>
          <p:cNvSpPr/>
          <p:nvPr/>
        </p:nvSpPr>
        <p:spPr>
          <a:xfrm>
            <a:off x="10022605" y="3028459"/>
            <a:ext cx="173652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dirty="0" smtClean="0"/>
              <a:t>Def </a:t>
            </a:r>
          </a:p>
          <a:p>
            <a:pPr algn="ctr"/>
            <a:r>
              <a:rPr lang="en-GB" dirty="0" smtClean="0"/>
              <a:t>Create_order()</a:t>
            </a:r>
            <a:endParaRPr lang="en-GB" dirty="0" smtClean="0"/>
          </a:p>
        </p:txBody>
      </p:sp>
      <p:sp>
        <p:nvSpPr>
          <p:cNvPr id="288" name="Flowchart: Data 287"/>
          <p:cNvSpPr/>
          <p:nvPr/>
        </p:nvSpPr>
        <p:spPr>
          <a:xfrm>
            <a:off x="9170237" y="5579591"/>
            <a:ext cx="2515966" cy="826186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9" name="Rectangle 288"/>
          <p:cNvSpPr/>
          <p:nvPr/>
        </p:nvSpPr>
        <p:spPr>
          <a:xfrm>
            <a:off x="9501298" y="5620135"/>
            <a:ext cx="203382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 smtClean="0"/>
              <a:t>order = order[order_number]  </a:t>
            </a:r>
          </a:p>
          <a:p>
            <a:pPr algn="ctr"/>
            <a:r>
              <a:rPr lang="en-GB" sz="1200" dirty="0" smtClean="0"/>
              <a:t>    item = order["item"]      </a:t>
            </a:r>
          </a:p>
          <a:p>
            <a:pPr algn="ctr"/>
            <a:r>
              <a:rPr lang="en-GB" sz="1200" dirty="0" smtClean="0"/>
              <a:t>quantity =order["quantity"]      </a:t>
            </a:r>
          </a:p>
          <a:p>
            <a:pPr algn="ctr"/>
            <a:r>
              <a:rPr lang="en-GB" sz="1200" dirty="0" smtClean="0"/>
              <a:t>price = order["price"]</a:t>
            </a:r>
          </a:p>
        </p:txBody>
      </p:sp>
      <p:cxnSp>
        <p:nvCxnSpPr>
          <p:cNvPr id="291" name="Straight Arrow Connector 290"/>
          <p:cNvCxnSpPr/>
          <p:nvPr/>
        </p:nvCxnSpPr>
        <p:spPr>
          <a:xfrm>
            <a:off x="11542491" y="6098882"/>
            <a:ext cx="583626" cy="27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248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iamond 24"/>
          <p:cNvSpPr/>
          <p:nvPr/>
        </p:nvSpPr>
        <p:spPr>
          <a:xfrm>
            <a:off x="5924492" y="982463"/>
            <a:ext cx="1383278" cy="1203699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lowchart: Data 4"/>
          <p:cNvSpPr/>
          <p:nvPr/>
        </p:nvSpPr>
        <p:spPr>
          <a:xfrm>
            <a:off x="341840" y="291208"/>
            <a:ext cx="1814247" cy="534251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480051" y="304984"/>
            <a:ext cx="1560357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050" b="1" dirty="0" smtClean="0"/>
              <a:t>Output</a:t>
            </a:r>
          </a:p>
          <a:p>
            <a:pPr algn="ctr"/>
            <a:r>
              <a:rPr lang="en-GB" sz="1050" b="1" dirty="0" smtClean="0"/>
              <a:t>“Your order number is:  {order_number}”</a:t>
            </a:r>
            <a:endParaRPr lang="en-GB" sz="1050" b="1" dirty="0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62801" y="553957"/>
            <a:ext cx="41725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lowchart: Data 8"/>
          <p:cNvSpPr/>
          <p:nvPr/>
        </p:nvSpPr>
        <p:spPr>
          <a:xfrm>
            <a:off x="62801" y="1346929"/>
            <a:ext cx="1426925" cy="652764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/>
          <p:cNvSpPr txBox="1"/>
          <p:nvPr/>
        </p:nvSpPr>
        <p:spPr>
          <a:xfrm>
            <a:off x="254160" y="1334960"/>
            <a:ext cx="11481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 smtClean="0"/>
              <a:t>print("! Invalid input. 3-6!”)</a:t>
            </a:r>
          </a:p>
          <a:p>
            <a:r>
              <a:rPr lang="en-GB" sz="1200" dirty="0" smtClean="0"/>
              <a:t>Return false</a:t>
            </a:r>
            <a:endParaRPr lang="en-GB" sz="1200" dirty="0"/>
          </a:p>
        </p:txBody>
      </p:sp>
      <p:sp>
        <p:nvSpPr>
          <p:cNvPr id="11" name="Flowchart: Preparation 10"/>
          <p:cNvSpPr/>
          <p:nvPr/>
        </p:nvSpPr>
        <p:spPr>
          <a:xfrm>
            <a:off x="1940984" y="1360519"/>
            <a:ext cx="1672158" cy="63012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2050385" y="1406514"/>
            <a:ext cx="1562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for _ in range</a:t>
            </a:r>
          </a:p>
          <a:p>
            <a:r>
              <a:rPr lang="en-GB" sz="1400" dirty="0" smtClean="0"/>
              <a:t>(</a:t>
            </a:r>
            <a:r>
              <a:rPr lang="en-GB" sz="1400" dirty="0" err="1" smtClean="0"/>
              <a:t>num_chocolates</a:t>
            </a:r>
            <a:r>
              <a:rPr lang="en-GB" sz="1400" dirty="0" smtClean="0"/>
              <a:t>):</a:t>
            </a:r>
            <a:endParaRPr lang="en-GB" sz="1400" dirty="0"/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392633" y="1672954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Data 13"/>
          <p:cNvSpPr/>
          <p:nvPr/>
        </p:nvSpPr>
        <p:spPr>
          <a:xfrm>
            <a:off x="3917797" y="1256559"/>
            <a:ext cx="1767621" cy="76783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3638511" y="1604065"/>
            <a:ext cx="400176" cy="16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038687" y="1214981"/>
            <a:ext cx="1480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 smtClean="0"/>
              <a:t>Input</a:t>
            </a:r>
          </a:p>
          <a:p>
            <a:pPr algn="ctr"/>
            <a:r>
              <a:rPr lang="en-GB" sz="1200" dirty="0" smtClean="0"/>
              <a:t>“Enter chocolate:</a:t>
            </a:r>
          </a:p>
          <a:p>
            <a:pPr algn="ctr"/>
            <a:r>
              <a:rPr lang="en-GB" sz="1200" dirty="0" smtClean="0"/>
              <a:t>Enter weight (100-500g) : ”</a:t>
            </a:r>
            <a:endParaRPr lang="en-GB" sz="1200" dirty="0"/>
          </a:p>
        </p:txBody>
      </p:sp>
      <p:sp>
        <p:nvSpPr>
          <p:cNvPr id="17" name="Diamond 16"/>
          <p:cNvSpPr/>
          <p:nvPr/>
        </p:nvSpPr>
        <p:spPr>
          <a:xfrm>
            <a:off x="9362424" y="860175"/>
            <a:ext cx="1745121" cy="1531747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5553010" y="1647941"/>
            <a:ext cx="371482" cy="25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7226665" y="1387677"/>
            <a:ext cx="320179" cy="165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9425539" y="1269095"/>
            <a:ext cx="1682006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/>
              <a:t> if </a:t>
            </a:r>
            <a:r>
              <a:rPr lang="en-GB" sz="1100" dirty="0" err="1" smtClean="0"/>
              <a:t>total_weight</a:t>
            </a:r>
            <a:r>
              <a:rPr lang="en-GB" sz="1100" dirty="0" smtClean="0"/>
              <a:t> != 1000:</a:t>
            </a:r>
          </a:p>
          <a:p>
            <a:pPr algn="ctr"/>
            <a:r>
              <a:rPr lang="en-GB" sz="1100" dirty="0" smtClean="0"/>
              <a:t>print(“Must 1000 grams. Please adjust your order.") </a:t>
            </a:r>
          </a:p>
          <a:p>
            <a:pPr algn="ctr"/>
            <a:r>
              <a:rPr lang="en-GB" sz="1100" dirty="0" smtClean="0"/>
              <a:t>return False</a:t>
            </a:r>
            <a:endParaRPr lang="en-GB" sz="1100" dirty="0"/>
          </a:p>
        </p:txBody>
      </p:sp>
      <p:sp>
        <p:nvSpPr>
          <p:cNvPr id="21" name="Flowchart: Data 20"/>
          <p:cNvSpPr/>
          <p:nvPr/>
        </p:nvSpPr>
        <p:spPr>
          <a:xfrm>
            <a:off x="7307770" y="1231957"/>
            <a:ext cx="2004699" cy="742173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/>
          <p:cNvSpPr txBox="1"/>
          <p:nvPr/>
        </p:nvSpPr>
        <p:spPr>
          <a:xfrm>
            <a:off x="7606289" y="1256067"/>
            <a:ext cx="159265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print("! Invalid input. </a:t>
            </a:r>
            <a:r>
              <a:rPr lang="en-GB" sz="1400" dirty="0"/>
              <a:t>(</a:t>
            </a:r>
            <a:r>
              <a:rPr lang="en-GB" sz="1400" dirty="0" smtClean="0"/>
              <a:t>100-500g)”)</a:t>
            </a:r>
          </a:p>
          <a:p>
            <a:r>
              <a:rPr lang="en-GB" sz="1400" dirty="0" smtClean="0"/>
              <a:t>Return false</a:t>
            </a:r>
            <a:endParaRPr lang="en-GB" sz="1400" dirty="0"/>
          </a:p>
        </p:txBody>
      </p:sp>
      <p:sp>
        <p:nvSpPr>
          <p:cNvPr id="23" name="TextBox 22"/>
          <p:cNvSpPr txBox="1"/>
          <p:nvPr/>
        </p:nvSpPr>
        <p:spPr>
          <a:xfrm>
            <a:off x="6041365" y="1302212"/>
            <a:ext cx="1153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 if weight &lt; 100 or weight &gt; 500:</a:t>
            </a:r>
            <a:endParaRPr lang="en-GB" sz="1200" dirty="0"/>
          </a:p>
        </p:txBody>
      </p:sp>
      <p:cxnSp>
        <p:nvCxnSpPr>
          <p:cNvPr id="24" name="Straight Arrow Connector 23"/>
          <p:cNvCxnSpPr/>
          <p:nvPr/>
        </p:nvCxnSpPr>
        <p:spPr>
          <a:xfrm flipV="1">
            <a:off x="9198944" y="1404269"/>
            <a:ext cx="298519" cy="250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lowchart: Data 25"/>
          <p:cNvSpPr/>
          <p:nvPr/>
        </p:nvSpPr>
        <p:spPr>
          <a:xfrm>
            <a:off x="361267" y="4523703"/>
            <a:ext cx="2158644" cy="85967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" name="Straight Arrow Connector 26"/>
          <p:cNvCxnSpPr/>
          <p:nvPr/>
        </p:nvCxnSpPr>
        <p:spPr>
          <a:xfrm flipV="1">
            <a:off x="62801" y="4921424"/>
            <a:ext cx="388210" cy="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80602" y="4552376"/>
            <a:ext cx="183865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200" dirty="0" smtClean="0"/>
              <a:t>print(</a:t>
            </a:r>
            <a:r>
              <a:rPr lang="en-GB" sz="1200" dirty="0" err="1" smtClean="0"/>
              <a:t>f"The</a:t>
            </a:r>
            <a:r>
              <a:rPr lang="en-GB" sz="1200" dirty="0" smtClean="0"/>
              <a:t> message '{tin_message}' will be charged at £{message_cost:.2f}.")</a:t>
            </a:r>
            <a:endParaRPr lang="en-GB" sz="1200" dirty="0"/>
          </a:p>
        </p:txBody>
      </p:sp>
      <p:sp>
        <p:nvSpPr>
          <p:cNvPr id="33" name="Flowchart: Data 32"/>
          <p:cNvSpPr/>
          <p:nvPr/>
        </p:nvSpPr>
        <p:spPr>
          <a:xfrm>
            <a:off x="2326630" y="5781094"/>
            <a:ext cx="2198540" cy="885100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Rectangle 33"/>
          <p:cNvSpPr/>
          <p:nvPr/>
        </p:nvSpPr>
        <p:spPr>
          <a:xfrm>
            <a:off x="138828" y="5958042"/>
            <a:ext cx="1464423" cy="4324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TextBox 34"/>
          <p:cNvSpPr txBox="1"/>
          <p:nvPr/>
        </p:nvSpPr>
        <p:spPr>
          <a:xfrm>
            <a:off x="93990" y="6077659"/>
            <a:ext cx="16464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total = quantity * price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9261" y="5838583"/>
            <a:ext cx="19349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 print(</a:t>
            </a:r>
            <a:r>
              <a:rPr lang="en-GB" sz="1200" dirty="0" err="1" smtClean="0"/>
              <a:t>f"Your</a:t>
            </a:r>
            <a:r>
              <a:rPr lang="en-GB" sz="1200" dirty="0" smtClean="0"/>
              <a:t> order details:\</a:t>
            </a:r>
            <a:r>
              <a:rPr lang="en-GB" sz="1200" dirty="0" err="1" smtClean="0"/>
              <a:t>nItem</a:t>
            </a:r>
            <a:r>
              <a:rPr lang="en-GB" sz="1200" dirty="0" smtClean="0"/>
              <a:t>: {item}\</a:t>
            </a:r>
            <a:r>
              <a:rPr lang="en-GB" sz="1200" dirty="0" err="1" smtClean="0"/>
              <a:t>nQuantity</a:t>
            </a:r>
            <a:r>
              <a:rPr lang="en-GB" sz="1200" dirty="0" smtClean="0"/>
              <a:t>: {quantity}\</a:t>
            </a:r>
            <a:r>
              <a:rPr lang="en-GB" sz="1200" dirty="0" err="1" smtClean="0"/>
              <a:t>nTotal</a:t>
            </a:r>
            <a:r>
              <a:rPr lang="en-GB" sz="1200" dirty="0" smtClean="0"/>
              <a:t>: ${total}")</a:t>
            </a:r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1904361" y="6174262"/>
            <a:ext cx="388210" cy="27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 flipV="1">
            <a:off x="4444760" y="6354658"/>
            <a:ext cx="1596605" cy="38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Flowchart: Terminator 46"/>
          <p:cNvSpPr/>
          <p:nvPr/>
        </p:nvSpPr>
        <p:spPr>
          <a:xfrm>
            <a:off x="6264802" y="6023715"/>
            <a:ext cx="1548714" cy="441983"/>
          </a:xfrm>
          <a:prstGeom prst="flowChartTerminator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TextBox 47"/>
          <p:cNvSpPr txBox="1"/>
          <p:nvPr/>
        </p:nvSpPr>
        <p:spPr>
          <a:xfrm>
            <a:off x="6663898" y="6077659"/>
            <a:ext cx="1260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End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7338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lowchart: Preparation 3"/>
          <p:cNvSpPr/>
          <p:nvPr/>
        </p:nvSpPr>
        <p:spPr>
          <a:xfrm>
            <a:off x="53877" y="1134386"/>
            <a:ext cx="1577147" cy="63012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186934" y="1182633"/>
            <a:ext cx="14271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for chocolate, weight in order:</a:t>
            </a:r>
          </a:p>
        </p:txBody>
      </p:sp>
      <p:sp>
        <p:nvSpPr>
          <p:cNvPr id="6" name="Flowchart: Data 5"/>
          <p:cNvSpPr/>
          <p:nvPr/>
        </p:nvSpPr>
        <p:spPr>
          <a:xfrm>
            <a:off x="2019564" y="1073633"/>
            <a:ext cx="1890612" cy="76783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/>
          <p:cNvSpPr txBox="1"/>
          <p:nvPr/>
        </p:nvSpPr>
        <p:spPr>
          <a:xfrm>
            <a:off x="2233148" y="1134386"/>
            <a:ext cx="14803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print(f"{chocolate}: {weight} grams")  with</a:t>
            </a:r>
            <a:endParaRPr lang="en-GB" sz="1200" dirty="0"/>
          </a:p>
        </p:txBody>
      </p:sp>
      <p:sp>
        <p:nvSpPr>
          <p:cNvPr id="8" name="Rectangle 7"/>
          <p:cNvSpPr/>
          <p:nvPr/>
        </p:nvSpPr>
        <p:spPr>
          <a:xfrm>
            <a:off x="4316077" y="1104242"/>
            <a:ext cx="1592509" cy="7066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4256323" y="1104242"/>
            <a:ext cx="170071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With open ("customer_order.txt", "a") as file: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25804" y="1127030"/>
            <a:ext cx="1592509" cy="73480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/>
          <p:cNvSpPr txBox="1"/>
          <p:nvPr/>
        </p:nvSpPr>
        <p:spPr>
          <a:xfrm>
            <a:off x="8584411" y="1182633"/>
            <a:ext cx="15668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file.write(f" * {chocolate}: {weight} grams\n") </a:t>
            </a:r>
          </a:p>
        </p:txBody>
      </p:sp>
      <p:sp>
        <p:nvSpPr>
          <p:cNvPr id="12" name="Flowchart: Data 11"/>
          <p:cNvSpPr/>
          <p:nvPr/>
        </p:nvSpPr>
        <p:spPr>
          <a:xfrm>
            <a:off x="10631277" y="1111411"/>
            <a:ext cx="1560723" cy="767839"/>
          </a:xfrm>
          <a:prstGeom prst="flowChartInputOutp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/>
          <p:cNvSpPr txBox="1"/>
          <p:nvPr/>
        </p:nvSpPr>
        <p:spPr>
          <a:xfrm>
            <a:off x="10885017" y="1140586"/>
            <a:ext cx="15829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print("  * order placed!")      </a:t>
            </a:r>
          </a:p>
          <a:p>
            <a:r>
              <a:rPr lang="en-GB" sz="1400" dirty="0" smtClean="0"/>
              <a:t>return True</a:t>
            </a:r>
            <a:endParaRPr lang="en-GB" sz="1400" dirty="0"/>
          </a:p>
        </p:txBody>
      </p:sp>
      <p:cxnSp>
        <p:nvCxnSpPr>
          <p:cNvPr id="14" name="Straight Arrow Connector 13"/>
          <p:cNvCxnSpPr/>
          <p:nvPr/>
        </p:nvCxnSpPr>
        <p:spPr>
          <a:xfrm flipV="1">
            <a:off x="1579540" y="1340732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V="1">
            <a:off x="3730808" y="1575201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968340" y="1449449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lowchart: Preparation 16"/>
          <p:cNvSpPr/>
          <p:nvPr/>
        </p:nvSpPr>
        <p:spPr>
          <a:xfrm>
            <a:off x="6537622" y="1163717"/>
            <a:ext cx="1675219" cy="630129"/>
          </a:xfrm>
          <a:prstGeom prst="flowChartPreparati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/>
          <p:cNvSpPr txBox="1"/>
          <p:nvPr/>
        </p:nvSpPr>
        <p:spPr>
          <a:xfrm>
            <a:off x="6661653" y="1232822"/>
            <a:ext cx="15627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smtClean="0"/>
              <a:t>for chocolate, weight in order: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V="1">
            <a:off x="8040519" y="1705852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 flipV="1">
            <a:off x="10263421" y="1405070"/>
            <a:ext cx="55546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232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</TotalTime>
  <Words>465</Words>
  <Application>Microsoft Office PowerPoint</Application>
  <PresentationFormat>Widescreen</PresentationFormat>
  <Paragraphs>110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B19HazratqulovaN</dc:creator>
  <cp:lastModifiedBy>B19HazratqulovaN</cp:lastModifiedBy>
  <cp:revision>19</cp:revision>
  <dcterms:created xsi:type="dcterms:W3CDTF">2024-01-07T19:39:32Z</dcterms:created>
  <dcterms:modified xsi:type="dcterms:W3CDTF">2024-01-07T22:46:15Z</dcterms:modified>
</cp:coreProperties>
</file>